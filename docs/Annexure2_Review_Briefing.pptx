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24dcda-c07e-5af8-38e9-a9b5784c6b8e}">
          <p14:sldIdLst>
            <p14:sldId id="256"/>
            <p14:sldId id="257"/>
          </p14:sldIdLst>
        </p14:section>
        <p14:section name="The 2018 model" id="{e40b7660-7f0f-7a6d-1ae5-53c1732bc950}">
          <p14:sldIdLst>
            <p14:sldId id="258"/>
            <p14:sldId id="259"/>
            <p14:sldId id="260"/>
          </p14:sldIdLst>
        </p14:section>
        <p14:section name="What we found" id="{5366b3da-6606-8108-da75-0c1a001fb656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Learning from others" id="{a387d0ee-3d7b-207c-cc78-8a46ef1aaa11}">
          <p14:sldIdLst>
            <p14:sldId id="267"/>
          </p14:sldIdLst>
        </p14:section>
        <p14:section name="The way forward" id="{18a1ab7e-50b7-575e-ae38-f7bec89309c3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lose" id="{87799692-4522-e55c-8fa1-b828509d1f65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city area</c:v>
                </c:pt>
              </c:strCache>
            </c:strRef>
          </c:tx>
          <c:spPr>
            <a:solidFill>
              <a:srgbClr val="2E8B8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Inner City Node</c:v>
                  </c:pt>
                  <c:pt idx="1">
                    <c:v>Metropolitan Nodes</c:v>
                  </c:pt>
                  <c:pt idx="2">
                    <c:v>Regional Nodes</c:v>
                  </c:pt>
                  <c:pt idx="3">
                    <c:v>General Urban Zone</c:v>
                  </c:pt>
                  <c:pt idx="4">
                    <c:v>LED Zone</c:v>
                  </c:pt>
                  <c:pt idx="5">
                    <c:v>Suburban Zone</c:v>
                  </c:pt>
                  <c:pt idx="6">
                    <c:v>Peri-urban Zone</c:v>
                  </c:pt>
                  <c:pt idx="7">
                    <c:v>Beyond the UDB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1.2</c:v>
                </c:pt>
                <c:pt idx="1">
                  <c:v>6.6</c:v>
                </c:pt>
                <c:pt idx="2">
                  <c:v>2.8</c:v>
                </c:pt>
                <c:pt idx="3">
                  <c:v>16.1</c:v>
                </c:pt>
                <c:pt idx="4">
                  <c:v>7.5</c:v>
                </c:pt>
                <c:pt idx="5">
                  <c:v>34.6</c:v>
                </c:pt>
                <c:pt idx="6">
                  <c:v>12.4</c:v>
                </c:pt>
                <c:pt idx="7">
                  <c:v>18.7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brief non-technical colleagues on the review of the model behind the 2020 Nodal Review Policy and the decisions taken on its redesign. About 20 minutes plus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context. The nodal review was always meant to be revisited. We are now at that point, and the SDF review makes it timely.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simple. The model is essentially a walkability and access scorecard for every 400 m cell in the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Areas are from the approved 2020 layer. Total 1 704 km². Industrial nodes and the Strategic Area Frameworks sit outside these seven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simplest point to land with any audience. The data vintages come straight from Annexure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the strengths. The redesign builds on these, it does not discard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of the twenty weaknesses in the full review. These are the ones that matter for policy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gap analysis has 22 rows. These eight are rated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Opportunities are largely about data that did not exist or was not accessible in 2017. Threats are about delivery and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cities invented something exotic. They separate transport supply from land-use performance, they use frequency, and they monitor on a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were confirmed with the policy owner during the review and are recorded in section 11 of the written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questions in, a simple sort in the middle, the familiar zones out. The matrix is the Node-Place idea in plain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before-and-after view is the easiest way for a non-technical audience to grasp the redesign.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requests are itemised in section 11.8 of the report with the format wanted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Phasing is indicative. Timing depends on data access, which is the main threat.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asks. Full written review is in the Word report circulated with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E8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2B5"/>
                </a:solidFill>
              </a:rPr>
              <a:t>City of Johannesburg  |  Nodal Review Policy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City of Johannesburg  |  Nodal Review Policy  |  Review of Annexure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E8B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167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6F2F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</a:rPr>
              <a:t>REVIEW OF ANNEXURE 2  |  URBAN POTENTIAL MODEL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Where should Johannesburg grow?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E8"/>
                </a:solidFill>
              </a:rPr>
              <a:t>What the evidence behind our nodes got right, where it falls short, and how we will rebuild 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8"/>
                </a:solidFill>
              </a:rPr>
              <a:t>City Transformation and Spatial Planning  |  Departmental briefing  |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we are looking at this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600200"/>
            <a:ext cx="1097280" cy="10972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2016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14600" y="2148840"/>
            <a:ext cx="77724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29260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A5E"/>
                </a:solidFill>
              </a:rPr>
              <a:t>SDF 2040 approved. It promised a dedicated review of the city's nodes, based on modelling and public input.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78808" y="1600200"/>
            <a:ext cx="1097280" cy="10972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78808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21808" y="2148840"/>
            <a:ext cx="77724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355848" y="29260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A5E"/>
                </a:solidFill>
              </a:rPr>
              <a:t>The Urban Potential Model was built and published. It scored every part of the city on access to transport, jobs and services.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86016" y="1600200"/>
            <a:ext cx="1097280" cy="10972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86016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29016" y="2148840"/>
            <a:ext cx="777240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163056" y="29260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A5E"/>
                </a:solidFill>
              </a:rPr>
              <a:t>Council approved the Nodal Review Policy. Seven zones replaced the old node boundaries.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793224" y="1600200"/>
            <a:ext cx="1097280" cy="10972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93224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2026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970264" y="29260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A5E"/>
                </a:solidFill>
              </a:rPr>
              <a:t>SPLUMA asks for a five-year refresh. The SDF is under review. The model is now built on data that is 9 to 15 years old.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89204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The question for the Department: </a:t>
            </a:r>
            <a:pPr indent="0" marL="0">
              <a:buNone/>
            </a:pPr>
            <a:r>
              <a:rPr lang="en-US" sz="1600" dirty="0">
                <a:solidFill>
                  <a:srgbClr val="3A4A5E"/>
                </a:solidFill>
              </a:rPr>
              <a:t>is the evidence behind our node boundaries and density rules still good enough to defend, and if not, what do we rebuild?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the 2018 model did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F2F2"/>
                </a:solidFill>
              </a:rPr>
              <a:t>In plain language, and what the city looks like as a result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model in four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24328" cy="4206240"/>
          </a:xfrm>
          <a:prstGeom prst="roundRect">
            <a:avLst>
              <a:gd name="adj" fmla="val 41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7335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1. Divide the city into cells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67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The city was cut into about 10 000 hexagons, each 400 m across. That is a five-minute walk edge to edge.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55848" y="1508760"/>
            <a:ext cx="2624328" cy="4206240"/>
          </a:xfrm>
          <a:prstGeom prst="roundRect">
            <a:avLst>
              <a:gd name="adj" fmla="val 41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84448" y="17373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18653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24528" y="167335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2. Measure walking access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2468880"/>
            <a:ext cx="2167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From the centre of each cell, how many schools, clinics, shops, parks and stations can you walk to in 30 minutes along real streets?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63056" y="1508760"/>
            <a:ext cx="2624328" cy="4206240"/>
          </a:xfrm>
          <a:prstGeom prst="roundRect">
            <a:avLst>
              <a:gd name="adj" fmla="val 41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91656" y="17373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8653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31736" y="167335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3. Combine into scores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2468880"/>
            <a:ext cx="2167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Each count was turned into a 0 to 1 score and blended with fixed weights into two indexes: one for economic nodes, one for residential density.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970264" y="1508760"/>
            <a:ext cx="2624328" cy="4206240"/>
          </a:xfrm>
          <a:prstGeom prst="roundRect">
            <a:avLst>
              <a:gd name="adj" fmla="val 41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98864" y="17373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86537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838944" y="167335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4. Draw the zones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198864" y="2468880"/>
            <a:ext cx="2167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High scores became nodes, low scores became suburban or peri-urban. Existing nodes and public comments were then used to adjust the lines.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came out of it: seven zones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508760"/>
            <a:ext cx="3776472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8B8B"/>
                </a:solidFill>
              </a:rPr>
              <a:t>10%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A5E"/>
                </a:solidFill>
              </a:rPr>
              <a:t>of the city's land is in the three node types where the policy wants the most growth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63840" y="3840480"/>
            <a:ext cx="3776472" cy="21945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900"/>
                </a:solidFill>
              </a:rPr>
              <a:t>47%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A5E"/>
                </a:solidFill>
              </a:rPr>
              <a:t>is suburban or peri-urban, where the model sets density by a sliding scale from 5 to 60 units per hectare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we found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F2F2"/>
                </a:solidFill>
              </a:rPr>
              <a:t>A SWOT and gap analysis of the 2018 method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model describes a city that no longer exists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</a:rPr>
              <a:t>2011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Population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Census 2011 sub-places. Census 2022 is available.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</a:rPr>
              <a:t>2012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Shops and factories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30175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GeoTerraImage building points, 14 years old.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</a:rPr>
              <a:t>2013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Taxi routes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0175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Before the 2017 Gauteng taxi mapping.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1554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</a:rPr>
              <a:t>2016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Streets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0175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OpenStreetMap before most township streets were mapped.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09760" y="1554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691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</a:rPr>
              <a:t>2017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Parks, schools, budget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0175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Pre-dates BRT Phase 1C and the PRASA collapse.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177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</a:rPr>
              <a:t>Since then: Census 2022, Waterfall and Modderfontein built out, Rea Vaya Phase 1C, PRASA collapsed and partly recovered, and large-scale backyard densification in Soweto, Diepsloot and Ivory Park.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Every number in the current policy map rests on inputs that are 9 to 15 years old.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2018 model got right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73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A fair, city-wide yardstick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Every part of the city was measured the same way for the first time, instead of inheriting node lines drawn in 2010.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0488" y="1508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19088" y="17373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8653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59168" y="1673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Built around walking and transit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19088" y="2468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It measured access along real streets on foot, which is exactly what the SDF's compact-city vision asks for.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513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959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Tested with the public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754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Two rounds of participation, more than 80 written inputs, and every change after comment was written down.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0488" y="3794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19088" y="40233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15137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59168" y="3959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Published and usable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19088" y="4754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The model, maps and method were put online, and the results were attached to every property in the City's land system.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it falls short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2763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It counts shops, not jobs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Economic activity was measured by counting formal commercial buildings. A spaza shop and Sandton City each count as one, and informal trading counts for nothing.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16916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19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62763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A station is a station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A planned BRT stop, a station with no trains and Gautrain all score the same. Frequency and whether the service runs were never included.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75320" y="16916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8196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15400" y="162763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Township economies are invisible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Because only formal buildings were counted, places like Diepsloot scored low. A special LED overlay was added to patch this.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15137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95935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It ignores pipes and power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Whether water, sewer and electricity can carry more growth, and whether land is dolomitic or floods, sit outside the model.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415137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66360" y="395935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It was never tested against reality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Nobody checked whether the areas it scored highly are where development applications actually came in.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15137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15400" y="395935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It cannot be re-run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The work lives in old ArcMap, QGIS 2.16 and Excel files. Node lines were partly adjusted by hand with no written rules.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Eight gaps that matter most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Measured against what the policy itself promises, what SPLUMA requires, and what other cities now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Job access for the poor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No measure of how long it takes to reach work by taxi, bus or on foot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69164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18745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Transit-led density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Stations scored by distance only, with no frequency or operating 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18745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0296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Potential vs performance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The index mostly reflects where business already is, not where it could grow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70264" y="169164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53144" y="18745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5314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47504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Infrastructure feasibility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No link to water, sewer or electricity capacity, which SPLUMA requires us to consider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Current data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617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Inputs are 9 to 15 years old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55848" y="38404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38728" y="402336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3872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133088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Informal economy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38728" y="4617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Township trading and backyard growth are not measured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63056" y="38404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45936" y="402336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5936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40296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Reproducibility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45936" y="4617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No code and no written rules for hand-drawn boundaries, which weakens us at tribunal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70264" y="38404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53144" y="402336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5314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747504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153144" y="4617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E"/>
                </a:solidFill>
              </a:rPr>
              <a:t>Never tested against seven years of building plans and rezonings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All eight share one root cause: a one-off snapshot built on old, formal-sector data, with no capacity check, no validation and no repeatable rules.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Opportunities and threats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2956" cy="4663440"/>
          </a:xfrm>
          <a:prstGeom prst="roundRect">
            <a:avLst>
              <a:gd name="adj" fmla="val 235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Opportunities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1431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Census 2022 gives us current population down to small areas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SARS-based employment data (SEAD-SA) tells us where jobs really 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Our own land system, applications and building plans can test the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Free routing tools can measure travel time by taxi, bus and on foot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Cape Town, London and others have tested designs we can borrow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The SDF review is the right moment to re-base the evidence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77356" y="1463040"/>
            <a:ext cx="5362956" cy="4663440"/>
          </a:xfrm>
          <a:prstGeom prst="roundRect">
            <a:avLst>
              <a:gd name="adj" fmla="val 235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1676" y="16916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1819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37476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</a:rPr>
              <a:t>Threats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51676" y="2423160"/>
            <a:ext cx="481431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Operators and agencies slow to share transit and jobs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Legal challenge where a boundary cannot be explained or reproduced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Water, power and rail decline making modelled growth undeliverable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Boundaries bent for single developments, as happened in 2018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Staff turnover losing the files and the know-how again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A5E"/>
                </a:solidFill>
              </a:rPr>
              <a:t>A redesign so complex that nobody outside the team trusts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other cities do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24328" cy="3429000"/>
          </a:xfrm>
          <a:prstGeom prst="roundRect">
            <a:avLst>
              <a:gd name="adj" fmla="val 41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8B"/>
                </a:solidFill>
              </a:rPr>
              <a:t>Cape Town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TOD Comprehensive Model and ECAMP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E"/>
                </a:solidFill>
              </a:rPr>
              <a:t>Models where households and jobs should go to cut transport cost, and scores each business precinct on how it performs today against how well it is located.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1508760"/>
            <a:ext cx="2624328" cy="3429000"/>
          </a:xfrm>
          <a:prstGeom prst="roundRect">
            <a:avLst>
              <a:gd name="adj" fmla="val 41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8B"/>
                </a:solidFill>
              </a:rPr>
              <a:t>London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PTAL and town-centre health checks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69748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E"/>
                </a:solidFill>
              </a:rPr>
              <a:t>Grades every 100 m of the city on walk time to a stop plus how often the service runs. Centres are re-checked on a fixed cycle.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63056" y="1508760"/>
            <a:ext cx="2624328" cy="3429000"/>
          </a:xfrm>
          <a:prstGeom prst="roundRect">
            <a:avLst>
              <a:gd name="adj" fmla="val 41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1656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8B"/>
                </a:solidFill>
              </a:rPr>
              <a:t>Netherlands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Node-Place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69748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E"/>
                </a:solidFill>
              </a:rPr>
              <a:t>Scores each station on transport supply and on surrounding land use separately, then asks which is lagging the other.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70264" y="1508760"/>
            <a:ext cx="2624328" cy="3429000"/>
          </a:xfrm>
          <a:prstGeom prst="roundRect">
            <a:avLst>
              <a:gd name="adj" fmla="val 41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98864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8B"/>
                </a:solidFill>
              </a:rPr>
              <a:t>Portland, USA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State of the Centers report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69748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E"/>
                </a:solidFill>
              </a:rPr>
              <a:t>A recurring report card for every centre: people, jobs, amenities, street connections and transit.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The two ingredients we lack: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service frequency on transport, and a clear split between how a place performs now and what it could become.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way forward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F2F2"/>
                </a:solidFill>
              </a:rPr>
              <a:t>Decisions taken and what the rebuilt model will do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decisions already taken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73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Rebuild, do not patch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A full redesign of the index rather than re-running the 2018 method with newer data.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0488" y="1508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19088" y="17373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8653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59168" y="1673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Use the data we can get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19088" y="2468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SARS-based jobs data, our own land and applications systems, transport schedules, and open data. Licensed building data is not assumed.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513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959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Count what is built or budgeted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754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Operating services and committed projects count. Everything else is shown as a separate scenario so delivery risk is visible.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0488" y="3794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19088" y="40233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15137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59168" y="3959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Serve four aims at once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19088" y="4754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Job access for low-income households, growth around transit, stronger existing nodes, and growth that infrastructure can carry.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new approach on one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Opportunity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How many jobs can you reach in 45 minutes by taxi, bus or on foot?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962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715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Transport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How often do services run, and how walkable are the streets around them?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9776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056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Place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How many jobs, people and mixed uses are already here?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51206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24865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5001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Capacity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Can the pipes, power and land rights carry more growth, and is the land safe to build on?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892040" y="3200400"/>
            <a:ext cx="548640" cy="548640"/>
          </a:xfrm>
          <a:prstGeom prst="rightArrow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89320" y="1600200"/>
            <a:ext cx="1554480" cy="146304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099048" y="169164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Densify here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Good transport, little activity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616952" y="1600200"/>
            <a:ext cx="1554480" cy="14630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26680" y="169164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nodes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Strong on both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989320" y="3136392"/>
            <a:ext cx="1554480" cy="14630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099048" y="3227832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Suburban or peri-urban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</a:rPr>
              <a:t>Weak on both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616952" y="3136392"/>
            <a:ext cx="1554480" cy="14630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726680" y="3227832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Invest in transport first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</a:rPr>
              <a:t>Busy place, poor transport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897880" y="4636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Place: weak  →  strong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 rot="16200000">
            <a:off x="425196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Transport and opportunity: weak  →  strong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5897880" y="4983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A4A5E"/>
                </a:solidFill>
              </a:rPr>
              <a:t>Capacity sets how much growth each cell may take, and flags where services must come first.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418320" y="3200400"/>
            <a:ext cx="640080" cy="548640"/>
          </a:xfrm>
          <a:prstGeom prst="rightArrow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241280" y="1600200"/>
            <a:ext cx="1600200" cy="4206240"/>
          </a:xfrm>
          <a:prstGeom prst="roundRect">
            <a:avLst>
              <a:gd name="adj" fmla="val 685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378440" y="1737360"/>
            <a:ext cx="1371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2A900"/>
                </a:solidFill>
              </a:rPr>
              <a:t>Zones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Inner City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Metropolitan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Regional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General Urban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LED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Suburban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Peri-urban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Beyond UDB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</a:rPr>
              <a:t>Classes are set by published thresholds and written rules, not by hand. Every weight is tested to show how much the map moves if it 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will be different this time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042916"/>
                <a:gridCol w="5042916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2018 model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Rebuilt model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8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Counted shops within 2 km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Counts jobs and how long it takes to reach them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Any station, any status, same score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Frequency counts; only running or budgeted services count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Services and constraints handled by policy text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Water, power, dolomite and flood lines inside the model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4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Weights chosen by the modellers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Weights set with departments and tested for sensitivity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Node lines partly adjusted by hand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Published thresholds and a written log of every change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One map, once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 State of the Nodes report on a fixed cycle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8C8D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7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E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Files on one person's computer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 re-runnable model owned by the City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need from partners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73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Transport operators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Rea Vaya, Metrobus, Gautrain and PRASA: schedules in a standard format and a year of passenger numbers. Where no schedule exists, we will build one from timetables.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0488" y="1508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19088" y="17373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8653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59168" y="1673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National Treasury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19088" y="2468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Access to the SARS-based employment dataset (SEAD-SA) so we can count jobs, not buildings.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513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959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Inside the City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754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Land Use Scheme rights from LIS, seven years of applications and building plans, bulk services capacity from Joburg Water and City Power, and the capital budget with a committed or planned flag.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0488" y="3794760"/>
            <a:ext cx="5458968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19088" y="40233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15137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59168" y="395935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Province and open sources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19088" y="475488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A5E"/>
                </a:solidFill>
              </a:rPr>
              <a:t>School places and clinic headcounts from GDE and Health; Census 2022; the GCRO Quality of Life survey; Gauteng's taxi route mapping.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work unfolds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97480" cy="914400"/>
          </a:xfrm>
          <a:prstGeom prst="chevron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</a:rPr>
              <a:t>Gather and build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E"/>
                </a:solidFill>
              </a:rPr>
              <a:t>Data requests out, City GTFS built from timetables, pipeline coded on the 2018 logic as a baseline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737360"/>
            <a:ext cx="2697480" cy="914400"/>
          </a:xfrm>
          <a:prstGeom prst="chevron">
            <a:avLst/>
          </a:prstGeom>
          <a:solidFill>
            <a:srgbClr val="2E8B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67328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</a:rPr>
              <a:t>Test the old model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33832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E"/>
                </a:solidFill>
              </a:rPr>
              <a:t>Check whether the 2018 scores predicted where applications actually came in. Publish the result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1737360"/>
            <a:ext cx="2697480" cy="914400"/>
          </a:xfrm>
          <a:prstGeom prst="chevron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74536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</a:rPr>
              <a:t>Rebuild and consult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33832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E"/>
                </a:solidFill>
              </a:rPr>
              <a:t>Four-pillar model, weights set with departments, draft boundaries out for public comment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70264" y="1737360"/>
            <a:ext cx="2697480" cy="914400"/>
          </a:xfrm>
          <a:prstGeom prst="chevron">
            <a:avLst/>
          </a:prstGeom>
          <a:solidFill>
            <a:srgbClr val="2E8B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81744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61704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</a:rPr>
              <a:t>Institutionalise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33832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E"/>
                </a:solidFill>
              </a:rPr>
              <a:t>State of the Nodes report, data custodians named, five-year cycle aligned with the SDF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257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Quick win: </a:t>
            </a:r>
            <a:pPr indent="0" marL="0">
              <a:buNone/>
            </a:pPr>
            <a:r>
              <a:rPr lang="en-US" sz="1500" dirty="0">
                <a:solidFill>
                  <a:srgbClr val="3A4A5E"/>
                </a:solidFill>
              </a:rPr>
              <a:t>Phase 2 can start as soon as the applications and building-plan extracts are in hand. It needs no new data from outside the City.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An evidence base we can defend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E8"/>
                </a:solidFill>
              </a:rPr>
              <a:t>The 2018 model gave the City its first fair yardstick. The rebuilt model will measure jobs, service frequency and capacity, be tested against what was actually built, and be re-run by the City on a fixed cycle.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</a:rPr>
              <a:t>Asks of this meeting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ADCE8"/>
                </a:solidFill>
              </a:rPr>
              <a:t>Endorse the four decisions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ADCE8"/>
                </a:solidFill>
              </a:rPr>
              <a:t>Authorise the data requests to operators, Treasury and internal departments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ADCE8"/>
                </a:solidFill>
              </a:rPr>
              <a:t>Nominate a model custodian in the Department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urg Nodal Review">
  <a:themeElements>
    <a:clrScheme name="Joburg Nodal Review">
      <a:dk1>
        <a:srgbClr val="1B2A41"/>
      </a:dk1>
      <a:lt1>
        <a:srgbClr val="FFFFFF"/>
      </a:lt1>
      <a:dk2>
        <a:srgbClr val="3A4A5E"/>
      </a:dk2>
      <a:lt2>
        <a:srgbClr val="EEF2F6"/>
      </a:lt2>
      <a:accent1>
        <a:srgbClr val="F2A900"/>
      </a:accent1>
      <a:accent2>
        <a:srgbClr val="2E8B8B"/>
      </a:accent2>
      <a:accent3>
        <a:srgbClr val="C0392B"/>
      </a:accent3>
      <a:accent4>
        <a:srgbClr val="7F8C8D"/>
      </a:accent4>
      <a:accent5>
        <a:srgbClr val="1B2A41"/>
      </a:accent5>
      <a:accent6>
        <a:srgbClr val="A3B18A"/>
      </a:accent6>
      <a:hlink>
        <a:srgbClr val="2E8B8B"/>
      </a:hlink>
      <a:folHlink>
        <a:srgbClr val="7F8C8D"/>
      </a:folHlink>
    </a:clrScheme>
    <a:fontScheme name="Joburg Nodal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should Johannesburg grow? Reviewing the evidence behind our nodes</dc:title>
  <dc:subject>PptxGenJS Presentation</dc:subject>
  <dc:creator>City Transformation and Spatial Planning</dc:creator>
  <cp:lastModifiedBy>City Transformation and Spatial Planning</cp:lastModifiedBy>
  <cp:revision>1</cp:revision>
  <dcterms:created xsi:type="dcterms:W3CDTF">2026-10-04T05:23:23Z</dcterms:created>
  <dcterms:modified xsi:type="dcterms:W3CDTF">2026-10-04T05:23:23Z</dcterms:modified>
</cp:coreProperties>
</file>